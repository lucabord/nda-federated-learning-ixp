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hRPXFoCY1wc+l2yx5NS3AFoG1B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3504F0-F6DF-4719-96EE-3559C00B4BF5}">
  <a:tblStyle styleId="{393504F0-F6DF-4719-96EE-3559C00B4B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1f127b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51f127bd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58e63421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f58e63421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8e63421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f58e63421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20f542f8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f520f542f8_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20f542f8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f520f542f8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20f542f8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f520f542f8_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1f127b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f51f127b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1f127b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f51f127b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1f127bd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f51f127bd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51f127b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f51f127b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1f127bd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f51f127bd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51f127bd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f51f127bd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51f127bd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51f127bd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1f127bd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f51f127bd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51f127bd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f51f127bd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51f127bd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f51f127bd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58e63421d_208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f58e63421d_208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8e63421d_2087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f58e63421d_2087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35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35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1f127bdb_1_0"/>
          <p:cNvSpPr/>
          <p:nvPr/>
        </p:nvSpPr>
        <p:spPr>
          <a:xfrm>
            <a:off x="0" y="14327"/>
            <a:ext cx="9144000" cy="5143500"/>
          </a:xfrm>
          <a:prstGeom prst="roundRect">
            <a:avLst>
              <a:gd fmla="val 1666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51f127bdb_1_0"/>
          <p:cNvSpPr txBox="1"/>
          <p:nvPr/>
        </p:nvSpPr>
        <p:spPr>
          <a:xfrm>
            <a:off x="685818" y="1234440"/>
            <a:ext cx="774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51f127bdb_1_0"/>
          <p:cNvSpPr txBox="1"/>
          <p:nvPr/>
        </p:nvSpPr>
        <p:spPr>
          <a:xfrm>
            <a:off x="685818" y="1914127"/>
            <a:ext cx="774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t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IXP Traffic Forecasting (time-series forecasting) with FL	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51f127bdb_1_0"/>
          <p:cNvSpPr txBox="1"/>
          <p:nvPr/>
        </p:nvSpPr>
        <p:spPr>
          <a:xfrm>
            <a:off x="685818" y="3291840"/>
            <a:ext cx="774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Luca Bordin, Mattia Menegale, Francesco Cavalieri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8e63421d_0_24"/>
          <p:cNvSpPr txBox="1"/>
          <p:nvPr/>
        </p:nvSpPr>
        <p:spPr>
          <a:xfrm>
            <a:off x="411491" y="24003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S1 — Load dataset, visualization &amp; Analysis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58e63421d_0_24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Problem Definition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58e63421d_0_24"/>
          <p:cNvSpPr txBox="1"/>
          <p:nvPr/>
        </p:nvSpPr>
        <p:spPr>
          <a:xfrm>
            <a:off x="5902446" y="4146979"/>
            <a:ext cx="1804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(70%)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58e63421d_0_24"/>
          <p:cNvSpPr txBox="1"/>
          <p:nvPr/>
        </p:nvSpPr>
        <p:spPr>
          <a:xfrm>
            <a:off x="8543229" y="4100094"/>
            <a:ext cx="4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(15%)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58e63421d_0_24"/>
          <p:cNvSpPr txBox="1"/>
          <p:nvPr/>
        </p:nvSpPr>
        <p:spPr>
          <a:xfrm>
            <a:off x="411500" y="950550"/>
            <a:ext cx="81318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Prediction of future regional traffic using IXP traffic volume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problem is a </a:t>
            </a:r>
            <a:r>
              <a:rPr b="0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Regression problem where given a past recording interval of </a:t>
            </a:r>
            <a:r>
              <a:rPr b="1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predict the </a:t>
            </a:r>
            <a:r>
              <a:rPr b="1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next K </a:t>
            </a:r>
            <a:r>
              <a:rPr b="0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values, followed by a </a:t>
            </a:r>
            <a:r>
              <a:rPr b="1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sensitivity analysis </a:t>
            </a:r>
            <a:r>
              <a:rPr b="0" i="0" lang="it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of the model performances.</a:t>
            </a:r>
            <a:endParaRPr b="0" i="0" sz="13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58e63421d_0_24"/>
          <p:cNvSpPr txBox="1"/>
          <p:nvPr/>
        </p:nvSpPr>
        <p:spPr>
          <a:xfrm>
            <a:off x="5994000" y="2260250"/>
            <a:ext cx="29034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N = {12,72,288}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K = {1, 12, 36}</a:t>
            </a:r>
            <a:endParaRPr b="1" i="0" sz="20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0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N × K combinations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3f58e63421d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00" y="2102575"/>
            <a:ext cx="5501601" cy="2163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8e63421d_0_12"/>
          <p:cNvSpPr txBox="1"/>
          <p:nvPr/>
        </p:nvSpPr>
        <p:spPr>
          <a:xfrm>
            <a:off x="411491" y="24003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S1 — Load dataset, visualization &amp; Analysis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58e63421d_0_12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Entities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58e63421d_0_12"/>
          <p:cNvSpPr txBox="1"/>
          <p:nvPr/>
        </p:nvSpPr>
        <p:spPr>
          <a:xfrm>
            <a:off x="411500" y="959565"/>
            <a:ext cx="46299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project uses a collection of publicly available traffic statistics for Internet Exchange Points (IXPs), covering two years (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January 2023 - December 2024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 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dataset has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472 IXPs worldwide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accounts for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87% of all publicly announced IXP port capacity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58e63421d_0_12"/>
          <p:cNvSpPr txBox="1"/>
          <p:nvPr/>
        </p:nvSpPr>
        <p:spPr>
          <a:xfrm>
            <a:off x="5902446" y="4146979"/>
            <a:ext cx="1804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(70%)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58e63421d_0_12"/>
          <p:cNvSpPr txBox="1"/>
          <p:nvPr/>
        </p:nvSpPr>
        <p:spPr>
          <a:xfrm>
            <a:off x="8543229" y="4100094"/>
            <a:ext cx="4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(15%)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f58e63421d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2270" y="552300"/>
            <a:ext cx="3097525" cy="250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58e63421d_0_12" title="agg_traffi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275" y="2571750"/>
            <a:ext cx="5195600" cy="24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58e63421d_0_12"/>
          <p:cNvSpPr txBox="1"/>
          <p:nvPr/>
        </p:nvSpPr>
        <p:spPr>
          <a:xfrm>
            <a:off x="5960900" y="3247552"/>
            <a:ext cx="2748900" cy="16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Singular IXPs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singular IXPs during the observable period shows different trends  (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DE-CIX Frankfurt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shows a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periodic daily trend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bimodal distribution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of the load during his period</a:t>
            </a:r>
            <a:endParaRPr b="0" i="0" sz="13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20f542f8_7_11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1666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520f542f8_7_11"/>
          <p:cNvSpPr txBox="1"/>
          <p:nvPr/>
        </p:nvSpPr>
        <p:spPr>
          <a:xfrm>
            <a:off x="685818" y="1234440"/>
            <a:ext cx="77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FFCCCC"/>
                </a:solidFill>
                <a:latin typeface="Georgia"/>
                <a:ea typeface="Georgia"/>
                <a:cs typeface="Georgia"/>
                <a:sym typeface="Georgia"/>
              </a:rPr>
              <a:t>S2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520f542f8_7_11"/>
          <p:cNvSpPr txBox="1"/>
          <p:nvPr/>
        </p:nvSpPr>
        <p:spPr>
          <a:xfrm>
            <a:off x="685818" y="1914127"/>
            <a:ext cx="774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t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Preprocessing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520f542f8_7_11"/>
          <p:cNvSpPr txBox="1"/>
          <p:nvPr/>
        </p:nvSpPr>
        <p:spPr>
          <a:xfrm>
            <a:off x="685818" y="3291840"/>
            <a:ext cx="774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Clean data, better models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20f542f8_7_0"/>
          <p:cNvSpPr txBox="1"/>
          <p:nvPr/>
        </p:nvSpPr>
        <p:spPr>
          <a:xfrm>
            <a:off x="411500" y="1097275"/>
            <a:ext cx="8564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Regional Traffic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regression problem was set up using the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aggregated traffic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grouped by timestamp and summed for each IXP. Therefore, we discarded the individual measurements, which were considered noisy data.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establish a solid baseline for training the models, we developed an outlier detection method based on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MAD 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(Median Absolute Deviation</a:t>
            </a: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520f542f8_7_0"/>
          <p:cNvSpPr txBox="1"/>
          <p:nvPr/>
        </p:nvSpPr>
        <p:spPr>
          <a:xfrm>
            <a:off x="411491" y="24003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S2 — Preprocessing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520f542f8_7_0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Cleaning &amp; Aggregation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520f542f8_7_0"/>
          <p:cNvSpPr txBox="1"/>
          <p:nvPr/>
        </p:nvSpPr>
        <p:spPr>
          <a:xfrm>
            <a:off x="5902446" y="4146979"/>
            <a:ext cx="1804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(70%)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520f542f8_7_0"/>
          <p:cNvSpPr txBox="1"/>
          <p:nvPr/>
        </p:nvSpPr>
        <p:spPr>
          <a:xfrm>
            <a:off x="8543229" y="4100094"/>
            <a:ext cx="4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15%)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f520f542f8_7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025" y="2324150"/>
            <a:ext cx="3535946" cy="1187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f520f542f8_7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029" y="3651205"/>
            <a:ext cx="3535946" cy="118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f520f542f8_7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8396" y="2324142"/>
            <a:ext cx="4310209" cy="206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20f542f8_7_18"/>
          <p:cNvSpPr txBox="1"/>
          <p:nvPr/>
        </p:nvSpPr>
        <p:spPr>
          <a:xfrm>
            <a:off x="411491" y="240030"/>
            <a:ext cx="61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S2 — Preprocessing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2F3C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520f542f8_7_18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Properties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520f542f8_7_18"/>
          <p:cNvSpPr txBox="1"/>
          <p:nvPr/>
        </p:nvSpPr>
        <p:spPr>
          <a:xfrm>
            <a:off x="411500" y="1097275"/>
            <a:ext cx="46299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Correlation and trends and other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aggregated traffic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exhibits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high partial autocorrelation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making it well suited for </a:t>
            </a:r>
            <a:r>
              <a:rPr b="1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autoregressive approaches</a:t>
            </a:r>
            <a:r>
              <a:rPr b="0" i="0" lang="it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It also shows a daily periodic pattern, typically reaching its peak at 21:00 and becoming effectively uncorrelated after 7 time steps. 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520f542f8_7_18"/>
          <p:cNvSpPr txBox="1"/>
          <p:nvPr/>
        </p:nvSpPr>
        <p:spPr>
          <a:xfrm>
            <a:off x="5902446" y="4146979"/>
            <a:ext cx="1804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(70%)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520f542f8_7_18"/>
          <p:cNvSpPr txBox="1"/>
          <p:nvPr/>
        </p:nvSpPr>
        <p:spPr>
          <a:xfrm>
            <a:off x="8543229" y="4100094"/>
            <a:ext cx="4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(15%)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f520f542f8_7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4325" y="456870"/>
            <a:ext cx="3491200" cy="231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f520f542f8_7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032" y="2496376"/>
            <a:ext cx="3512054" cy="206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f520f542f8_7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174875"/>
            <a:ext cx="4270187" cy="13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51f127bdb_0_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1666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51f127bdb_0_0"/>
          <p:cNvSpPr txBox="1"/>
          <p:nvPr/>
        </p:nvSpPr>
        <p:spPr>
          <a:xfrm>
            <a:off x="685818" y="1234440"/>
            <a:ext cx="77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FFCCCC"/>
                </a:solidFill>
                <a:latin typeface="Georgia"/>
                <a:ea typeface="Georgia"/>
                <a:cs typeface="Georgia"/>
                <a:sym typeface="Georgia"/>
              </a:rPr>
              <a:t>S3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51f127bdb_0_0"/>
          <p:cNvSpPr txBox="1"/>
          <p:nvPr/>
        </p:nvSpPr>
        <p:spPr>
          <a:xfrm>
            <a:off x="685818" y="2057400"/>
            <a:ext cx="774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t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Forecasting Setup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51f127bdb_0_0"/>
          <p:cNvSpPr txBox="1"/>
          <p:nvPr/>
        </p:nvSpPr>
        <p:spPr>
          <a:xfrm>
            <a:off x="685818" y="3291840"/>
            <a:ext cx="774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Shared pipeline used by every model in S4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1f127bdb_0_7"/>
          <p:cNvSpPr txBox="1"/>
          <p:nvPr/>
        </p:nvSpPr>
        <p:spPr>
          <a:xfrm>
            <a:off x="411491" y="24003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S3 — FORECASTING SETUP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51f127bdb_0_7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Forecasting configuration, split &amp; metrics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51f127bdb_0_7"/>
          <p:cNvSpPr txBox="1"/>
          <p:nvPr/>
        </p:nvSpPr>
        <p:spPr>
          <a:xfrm>
            <a:off x="494325" y="1054748"/>
            <a:ext cx="3994500" cy="11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Sliding-window formulation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Produced by using different stride strategies </a:t>
            </a:r>
            <a:r>
              <a:rPr b="1" i="0" lang="it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train-stride =3</a:t>
            </a:r>
            <a:r>
              <a:rPr b="0" i="0" lang="it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it" sz="1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validation and test = k_horizon</a:t>
            </a:r>
            <a:endParaRPr b="1" i="0" sz="12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51f127bdb_0_7"/>
          <p:cNvSpPr txBox="1"/>
          <p:nvPr/>
        </p:nvSpPr>
        <p:spPr>
          <a:xfrm>
            <a:off x="5902446" y="4146979"/>
            <a:ext cx="1804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(70%)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51f127bdb_0_7"/>
          <p:cNvSpPr txBox="1"/>
          <p:nvPr/>
        </p:nvSpPr>
        <p:spPr>
          <a:xfrm>
            <a:off x="7985542" y="4100075"/>
            <a:ext cx="386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(15%)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51f127bdb_0_7"/>
          <p:cNvSpPr txBox="1"/>
          <p:nvPr/>
        </p:nvSpPr>
        <p:spPr>
          <a:xfrm>
            <a:off x="8543229" y="4100094"/>
            <a:ext cx="4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6"/>
              <a:buFont typeface="Arial"/>
              <a:buNone/>
            </a:pPr>
            <a:r>
              <a:rPr b="1" i="0" lang="it" sz="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(15%)</a:t>
            </a:r>
            <a:endParaRPr b="0" i="0" sz="1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f51f127bdb_0_7" title="split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8" y="3170854"/>
            <a:ext cx="4384826" cy="1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51f127bdb_0_7"/>
          <p:cNvSpPr txBox="1"/>
          <p:nvPr/>
        </p:nvSpPr>
        <p:spPr>
          <a:xfrm>
            <a:off x="411504" y="1764025"/>
            <a:ext cx="4056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Temporal split (70 / 15 / 15)</a:t>
            </a:r>
            <a:endParaRPr b="1" i="0" sz="1400" u="none" cap="none" strike="noStrike">
              <a:solidFill>
                <a:srgbClr val="99001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Train → Validation → Test — strictly chronological, no future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Standardization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fitted on training set only, 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scaler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51f127bdb_0_7"/>
          <p:cNvSpPr txBox="1"/>
          <p:nvPr/>
        </p:nvSpPr>
        <p:spPr>
          <a:xfrm>
            <a:off x="5079367" y="99697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3f51f127bdb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2195" y="2794618"/>
            <a:ext cx="3000001" cy="58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f51f127bdb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2200" y="2056985"/>
            <a:ext cx="3547600" cy="741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51f127bdb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2200" y="1556850"/>
            <a:ext cx="2926284" cy="6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51f127bdb_0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59675" y="4125250"/>
            <a:ext cx="2639381" cy="7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f51f127bdb_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89101" y="3523625"/>
            <a:ext cx="3080204" cy="6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1f127bdb_0_2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1666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51f127bdb_0_20"/>
          <p:cNvSpPr txBox="1"/>
          <p:nvPr/>
        </p:nvSpPr>
        <p:spPr>
          <a:xfrm>
            <a:off x="685818" y="1234440"/>
            <a:ext cx="77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FFCCCC"/>
                </a:solidFill>
                <a:latin typeface="Georgia"/>
                <a:ea typeface="Georgia"/>
                <a:cs typeface="Georgia"/>
                <a:sym typeface="Georgia"/>
              </a:rPr>
              <a:t>S4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51f127bdb_0_20"/>
          <p:cNvSpPr txBox="1"/>
          <p:nvPr/>
        </p:nvSpPr>
        <p:spPr>
          <a:xfrm>
            <a:off x="685818" y="2057400"/>
            <a:ext cx="774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t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 Training &amp; Comparison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51f127bdb_0_20"/>
          <p:cNvSpPr txBox="1"/>
          <p:nvPr/>
        </p:nvSpPr>
        <p:spPr>
          <a:xfrm>
            <a:off x="685818" y="3291840"/>
            <a:ext cx="774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Random Forest, LSTM, GRU, ARIMA, and Chronos TSFM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1f127bdb_0_27"/>
          <p:cNvSpPr txBox="1"/>
          <p:nvPr/>
        </p:nvSpPr>
        <p:spPr>
          <a:xfrm>
            <a:off x="411491" y="240030"/>
            <a:ext cx="6172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S4.1 — RANDOM FOREST BASELINE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51f127bdb_0_27"/>
          <p:cNvSpPr txBox="1"/>
          <p:nvPr/>
        </p:nvSpPr>
        <p:spPr>
          <a:xfrm>
            <a:off x="210791" y="438295"/>
            <a:ext cx="829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51f127bdb_0_27"/>
          <p:cNvSpPr txBox="1"/>
          <p:nvPr/>
        </p:nvSpPr>
        <p:spPr>
          <a:xfrm>
            <a:off x="210800" y="1086175"/>
            <a:ext cx="2967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Machine learning model that uses an ensemble of decision trees to make predictions. </a:t>
            </a:r>
            <a:endParaRPr b="0" i="0" sz="13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Has no notion of time</a:t>
            </a:r>
            <a:endParaRPr b="0" i="0" sz="13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Tree capture non-linearity through their splits</a:t>
            </a:r>
            <a:endParaRPr b="0" i="0" sz="13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200 trees, direct multi-output (all K at once), parallel 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Test performance (N=72, K=12)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MAE 3,986  |  RMSE 5,624  |  MAPE 5.26%  |  R² 0.933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Training ~1,040 s — dominated by the many 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4" name="Google Shape;184;g3f51f127bdb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7805" y="985075"/>
            <a:ext cx="5669846" cy="25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f51f127bdb_0_27"/>
          <p:cNvSpPr txBox="1"/>
          <p:nvPr/>
        </p:nvSpPr>
        <p:spPr>
          <a:xfrm>
            <a:off x="3480325" y="3741373"/>
            <a:ext cx="4119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Sensitivity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N=288: big gain at K=36 (MAE 7933 → 3395)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K=1: insensitive to N — recent values suffice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Worst at (N=72, K=36) — too little context for 3h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1f127bdb_0_35"/>
          <p:cNvSpPr txBox="1"/>
          <p:nvPr/>
        </p:nvSpPr>
        <p:spPr>
          <a:xfrm>
            <a:off x="411491" y="240030"/>
            <a:ext cx="6172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S4.2 / S4.3 — LSTM &amp; GRU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51f127bdb_0_35"/>
          <p:cNvSpPr txBox="1"/>
          <p:nvPr/>
        </p:nvSpPr>
        <p:spPr>
          <a:xfrm>
            <a:off x="411491" y="445770"/>
            <a:ext cx="829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Deep Learning — LSTM &amp; GRU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51f127bdb_0_35"/>
          <p:cNvSpPr txBox="1"/>
          <p:nvPr/>
        </p:nvSpPr>
        <p:spPr>
          <a:xfrm>
            <a:off x="411501" y="1097275"/>
            <a:ext cx="28338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Recurrent encoders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Read the N-sample window as an ordered sequence (one value at a time); linear head → K outputs (direct)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LSTM: 3 gates + hidden state + cell state (hidden 64, 1 layer)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GRU: 2 gates, single state (hidden 128, 2 layers)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Tuned via expanding-window CV — no future leakage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Test metrics (N=72, K=12)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LSTM: MAE 3,371  |  R² 0.965  (train 7.6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GRU:  MAE 3,532  |  R² 0.965  (train 30.4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3" name="Google Shape;193;g3f51f127bdb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5675" y="970825"/>
            <a:ext cx="5204326" cy="2020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g3f51f127bdb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5675" y="3105200"/>
            <a:ext cx="5319224" cy="18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1f127bdb_0_44"/>
          <p:cNvSpPr txBox="1"/>
          <p:nvPr/>
        </p:nvSpPr>
        <p:spPr>
          <a:xfrm>
            <a:off x="327466" y="215080"/>
            <a:ext cx="6172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S4.4 — ARIMA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51f127bdb_0_44"/>
          <p:cNvSpPr txBox="1"/>
          <p:nvPr/>
        </p:nvSpPr>
        <p:spPr>
          <a:xfrm>
            <a:off x="246791" y="445770"/>
            <a:ext cx="829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ARIMA(7, 1,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51f127bdb_0_44"/>
          <p:cNvSpPr txBox="1"/>
          <p:nvPr/>
        </p:nvSpPr>
        <p:spPr>
          <a:xfrm>
            <a:off x="246800" y="1074825"/>
            <a:ext cx="2593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AutoRegressive Integrated Moving Average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Order ARIMA(7,1,0)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Refit per-window on each window’s N context samples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Test performance (N=72, K=12)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MAE 2,066  |  MAPE 3.06%  |  R² 0.972 — best MAE of all models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2" name="Google Shape;202;g3f51f127bdb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0595" y="1002775"/>
            <a:ext cx="6043956" cy="25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51f127bdb_0_44"/>
          <p:cNvSpPr txBox="1"/>
          <p:nvPr/>
        </p:nvSpPr>
        <p:spPr>
          <a:xfrm>
            <a:off x="3316050" y="3652598"/>
            <a:ext cx="411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Sensitivity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Dominates at K=1: MAE 973 (N=288), R² 0.995 — best overall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N=12, K≥12: degrades badly (MAE up to 16,500) — too little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N≥72: stable and competitive up to K=12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1f127bdb_0_52"/>
          <p:cNvSpPr txBox="1"/>
          <p:nvPr/>
        </p:nvSpPr>
        <p:spPr>
          <a:xfrm>
            <a:off x="411491" y="240030"/>
            <a:ext cx="6172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S4.5 — TIME SERIES FOUNDATION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51f127bdb_0_52"/>
          <p:cNvSpPr txBox="1"/>
          <p:nvPr/>
        </p:nvSpPr>
        <p:spPr>
          <a:xfrm>
            <a:off x="411491" y="445770"/>
            <a:ext cx="829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Chronos-Bolt — zero-shot forecasting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51f127bdb_0_52"/>
          <p:cNvSpPr txBox="1"/>
          <p:nvPr/>
        </p:nvSpPr>
        <p:spPr>
          <a:xfrm>
            <a:off x="411500" y="1097275"/>
            <a:ext cx="25050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Zero-shot TSFM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Transformer pretrained on millions of 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amazon/chronos-bolt-small (~48M params), T5 encoder-decoder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Context = N samples, horizon = K; no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Test performance (N=72, K=12)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MAE 3,616  |  MAPE 5.22%  |  R² 0.953 — on par with LSTM/GRU, zero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1" name="Google Shape;211;g3f51f127bdb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6500" y="1097275"/>
            <a:ext cx="6144599" cy="247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51f127bdb_0_52"/>
          <p:cNvSpPr txBox="1"/>
          <p:nvPr/>
        </p:nvSpPr>
        <p:spPr>
          <a:xfrm>
            <a:off x="3369250" y="3661324"/>
            <a:ext cx="411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Sensitivity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Long context helps: N=288 cuts MAE 50%+ vs N=12 at K=36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Best: N=288, K=1 — MAE 2,354, R² 0.982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N=288, K=36: MAE 3,678 — 2nd best, zero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1f127bdb_0_6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1666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51f127bdb_0_60"/>
          <p:cNvSpPr txBox="1"/>
          <p:nvPr/>
        </p:nvSpPr>
        <p:spPr>
          <a:xfrm>
            <a:off x="685818" y="1234440"/>
            <a:ext cx="77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FFCCCC"/>
                </a:solidFill>
                <a:latin typeface="Georgia"/>
                <a:ea typeface="Georgia"/>
                <a:cs typeface="Georgia"/>
                <a:sym typeface="Georgia"/>
              </a:rPr>
              <a:t>S4.6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51f127bdb_0_60"/>
          <p:cNvSpPr txBox="1"/>
          <p:nvPr/>
        </p:nvSpPr>
        <p:spPr>
          <a:xfrm>
            <a:off x="685818" y="2057400"/>
            <a:ext cx="774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t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Final Model Comparison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51f127bdb_0_60"/>
          <p:cNvSpPr txBox="1"/>
          <p:nvPr/>
        </p:nvSpPr>
        <p:spPr>
          <a:xfrm>
            <a:off x="685818" y="3291840"/>
            <a:ext cx="774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Bringing all five models together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1f127bdb_0_67"/>
          <p:cNvSpPr txBox="1"/>
          <p:nvPr/>
        </p:nvSpPr>
        <p:spPr>
          <a:xfrm>
            <a:off x="411491" y="240030"/>
            <a:ext cx="6172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S4.6 — FINAL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51f127bdb_0_67"/>
          <p:cNvSpPr txBox="1"/>
          <p:nvPr/>
        </p:nvSpPr>
        <p:spPr>
          <a:xfrm>
            <a:off x="411491" y="445770"/>
            <a:ext cx="829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Model comparison &amp; forecast overlay (N=72, K=12)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51f127bdb_0_67"/>
          <p:cNvSpPr txBox="1"/>
          <p:nvPr/>
        </p:nvSpPr>
        <p:spPr>
          <a:xfrm>
            <a:off x="411500" y="3442324"/>
            <a:ext cx="429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Ranking at default setting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MAE: ARIMA 2066 &lt; LSTM 3371 &lt; GRU 3532 &lt; Chronos 3616 &lt; RF 3986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R²: ARIMA 0.972 &gt; GRU 0.965 ≈ LSTM 0.964 &gt; Chronos 0.953 &gt; RF 0.933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ARIMA leads on all metrics; RF weakest but still R² &gt; 0.93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f51f127bdb_0_67" title="Screenshot 2026-07-09 at 17.22.43.png"/>
          <p:cNvPicPr preferRelativeResize="0"/>
          <p:nvPr/>
        </p:nvPicPr>
        <p:blipFill rotWithShape="1">
          <a:blip r:embed="rId3">
            <a:alphaModFix/>
          </a:blip>
          <a:srcRect b="0" l="0" r="537" t="0"/>
          <a:stretch/>
        </p:blipFill>
        <p:spPr>
          <a:xfrm>
            <a:off x="192500" y="947550"/>
            <a:ext cx="8791776" cy="22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51f127bdb_0_74"/>
          <p:cNvSpPr txBox="1"/>
          <p:nvPr/>
        </p:nvSpPr>
        <p:spPr>
          <a:xfrm>
            <a:off x="411491" y="240030"/>
            <a:ext cx="6172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S4.6 — FINAL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51f127bdb_0_74"/>
          <p:cNvSpPr txBox="1"/>
          <p:nvPr/>
        </p:nvSpPr>
        <p:spPr>
          <a:xfrm>
            <a:off x="411491" y="445770"/>
            <a:ext cx="829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Sensitivity (MAE vs K) and best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f51f127bdb_0_74"/>
          <p:cNvSpPr txBox="1"/>
          <p:nvPr/>
        </p:nvSpPr>
        <p:spPr>
          <a:xfrm>
            <a:off x="636116" y="3687072"/>
            <a:ext cx="43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What the line plots tell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N=12: ARIMA diverges at long K; LSTM/GRU most 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N=72: all competitive; ARIMA leads at K=1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N=288: RF catches up, Chronos becomes top-tier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•  LSTM/GRU most consistent across (N,K)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f51f127bdb_0_74" title="Screenshot 2026-07-09 at 17.22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52170"/>
            <a:ext cx="8839199" cy="244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fmla="val 1666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85818" y="1234440"/>
            <a:ext cx="774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685818" y="2057400"/>
            <a:ext cx="774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it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Federated 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685818" y="3291840"/>
            <a:ext cx="774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FedAvg across Jakarta IXPs with a shared GRU forecaster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Task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11491" y="1292278"/>
            <a:ext cx="5486400" cy="3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Simulate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across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Jakarta's IXPs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goal was to use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 IXPs in total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hold out 3 for testing.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3 models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Federated model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(FedAvg):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global GRU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shared across clients.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GRU trained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 of all participants'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(standardized)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data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(this should work as the practical upper bound).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Local-only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independent GRU per test client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trained only on that client's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378110" y="1508760"/>
            <a:ext cx="24690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Jakarta IXPs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FL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models compared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11491" y="445770"/>
            <a:ext cx="8298401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From PeeringDB to 13 IXP clients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11500" y="1097275"/>
            <a:ext cx="5567400" cy="4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Geographic filtering via PeeringDB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Dataset metadata has IXP IDs but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geography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PeeringDB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maps IDs to cities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77 Indonesian IXPs → 34 in greater Jakarta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(Jabodetabek tokens + mislabel whitelist)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Building the candidate pool (target: 15)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Only 6 Jakarta IXPs have a traffic profile in the dataset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Filled spots with other Indonesian IXPs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Obtained  16 IXPs in total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Zero-traffic drop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 &lt; 0.05 Gbit/s 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dead exchange: no learnable pattern, degenerate standardization, NMAE% blows 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discarded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(SIX, BIX Semarang, IIX-Sulampua) →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 usable clients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378110" y="1508760"/>
            <a:ext cx="24690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selected IXP clients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5 + 8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Jakarta + other Indonesian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0.05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Gbit/s dead-IXP threshold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411491" y="445770"/>
            <a:ext cx="8298401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Clients, splits and standardization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411500" y="1097275"/>
            <a:ext cx="5486400" cy="3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Train / held-out client split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training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clients +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held-out IXPs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that never join any round: IIX-Bali, sumIX, IIX-Jateng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Held-out set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stratified by coefficient of variation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(0.23 / 0.58 / 1.19) — spans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low, medium and high variability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Per-client datasets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Temporal split 60 / 10 / 30 (train / validation / test)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— strictly chronological, no future leakage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Standardization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To compare data farly we used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Z-standardization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for a client’s data portion (no leakage):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transformed_data = (datum_value - data_mean) / data_std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6378110" y="1508760"/>
            <a:ext cx="24690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training clients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held-out test IXPs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60/10/30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temporal split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58e63421d_2087_15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58e63421d_2087_15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Experimental Setup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58e63421d_2087_15"/>
          <p:cNvSpPr txBox="1"/>
          <p:nvPr/>
        </p:nvSpPr>
        <p:spPr>
          <a:xfrm>
            <a:off x="411500" y="1097275"/>
            <a:ext cx="5486400" cy="3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Granularity = 1-hour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The raw dataset is at 5-minute granularity.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Rescaled data to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1-hour 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granularity, faster training, keeps the sequence length manageable for a small GRU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N Lookback = 24 hours 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As IXP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 is strongly periodic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~24h period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So model can "see" where in the daily pattern it currently sits and what comes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K Horizon = 6 hours 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Practical forecasting window, predicting further out (12h, 24h) is harder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Contains training speed and parameters as the linear head outputs just 6 values), which means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fewer parameters sent over the network each FL round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58e63421d_2087_15"/>
          <p:cNvSpPr txBox="1"/>
          <p:nvPr/>
        </p:nvSpPr>
        <p:spPr>
          <a:xfrm>
            <a:off x="6378110" y="1508760"/>
            <a:ext cx="24690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1 h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time series granularity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24h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lookback value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6 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horizon value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8e63421d_2087_130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58e63421d_2087_130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Evaluation Metrics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58e63421d_2087_130"/>
          <p:cNvSpPr txBox="1"/>
          <p:nvPr/>
        </p:nvSpPr>
        <p:spPr>
          <a:xfrm>
            <a:off x="411500" y="882925"/>
            <a:ext cx="8435700" cy="45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Scale-free metrics for fair comparison across IXPs ranging from 0.1 to 4,400 Gbit/s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t" sz="9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Why not MAE / RMSE?</a:t>
            </a:r>
            <a:endParaRPr b="1" i="0" sz="9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are in Gbit</a:t>
            </a:r>
            <a:r>
              <a:rPr b="0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/s — an error of 5 Gbit/s looks tiny on a 4,400 Gbit/s IXP but huge on a 0.1 Gbit/s one.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Raw errors are not comparable across clients of different sizes, so we use scale-free alternatives</a:t>
            </a:r>
            <a:r>
              <a:rPr b="0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t" sz="9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NMAE% and NRMSE% (Normalized error) </a:t>
            </a:r>
            <a:endParaRPr b="1" i="0" sz="9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divided by each IXP's own mean traffic evel. </a:t>
            </a:r>
            <a:endParaRPr b="1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Turns Gbit/s into a percentage of typical load.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t" sz="9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R² (Shape accuracy) </a:t>
            </a:r>
            <a:endParaRPr b="1" i="0" sz="9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model capture the ups and downs of the true signal? 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1.0 = perfect match, 0.0 = no better than the mean, &lt; 0 = actively wrong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t" sz="9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Skill vs Persistence (Beat the naive baseline?) (Skill = 1 − (model MAE / naive MAE))</a:t>
            </a:r>
            <a:endParaRPr b="1" i="0" sz="9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model beat simply repeating the last observed value? 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t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0 =&gt; genuinely useful, = 0 =&gt; same as naive, &lt; 0 =&gt; worse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58e63421d_2087_130"/>
          <p:cNvSpPr txBox="1"/>
          <p:nvPr/>
        </p:nvSpPr>
        <p:spPr>
          <a:xfrm>
            <a:off x="6378110" y="1508760"/>
            <a:ext cx="246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Federated Learning setup (FedAvg + proximal term)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11500" y="1214500"/>
            <a:ext cx="4680600" cy="3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FedAvg (15 rounds)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Server sends the current global model weights to all training clients.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Each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loads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those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weights, trains locally for 2 epochs on its own data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the updated weights back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trains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local epochs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its own standardized windows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averages the weights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weighted by each client's dataset size.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FedProx regularization term (μ = 0.01) for non-IID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We added a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FedProx regularization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term that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penalizes each client's local model from drifting too far from the global model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5092100" y="1278000"/>
            <a:ext cx="3895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it" sz="31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   15        2       μ=0.01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    federated                  local                   FedProx coefficient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       rounds            epochs/round</a:t>
            </a:r>
            <a:endParaRPr b="0" i="0" sz="1300" u="none" cap="none" strike="noStrike">
              <a:solidFill>
                <a:srgbClr val="6E6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it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438" y="2436125"/>
            <a:ext cx="3638526" cy="19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411491" y="445770"/>
            <a:ext cx="8298401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Mean over held-out IXPs (scale-free)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9" name="Google Shape;299;p27"/>
          <p:cNvGraphicFramePr/>
          <p:nvPr/>
        </p:nvGraphicFramePr>
        <p:xfrm>
          <a:off x="411491" y="100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{393504F0-F6DF-4719-96EE-3559C00B4BF5}</a:tableStyleId>
              </a:tblPr>
              <a:tblGrid>
                <a:gridCol w="1457150"/>
                <a:gridCol w="1150400"/>
                <a:gridCol w="1227075"/>
                <a:gridCol w="997000"/>
                <a:gridCol w="1532525"/>
              </a:tblGrid>
              <a:tr h="11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NMAE [%]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NRMSE [%]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vs persistence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990011"/>
                    </a:solidFill>
                  </a:tcPr>
                </a:tc>
              </a:tr>
              <a:tr h="11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</a:rPr>
                        <a:t>11.35</a:t>
                      </a:r>
                      <a:endParaRPr b="1"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</a:rPr>
                        <a:t>15.73</a:t>
                      </a:r>
                      <a:endParaRPr b="1"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</a:rPr>
                        <a:t>0.022</a:t>
                      </a:r>
                      <a:endParaRPr b="1"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</a:rPr>
                        <a:t>−6.22</a:t>
                      </a:r>
                      <a:endParaRPr b="1"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11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Federated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13.55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18.74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−6.01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−16.92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2F2F2"/>
                    </a:solidFill>
                  </a:tcPr>
                </a:tc>
              </a:tr>
              <a:tr h="11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Centralized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13.42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18.17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−0.99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−10.45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27"/>
          <p:cNvSpPr txBox="1"/>
          <p:nvPr/>
        </p:nvSpPr>
        <p:spPr>
          <a:xfrm>
            <a:off x="411500" y="2183600"/>
            <a:ext cx="82983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Local wins on every single metric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It has the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errors 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(NMAE 11.35%, NRMSE 15.73%), only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R²</a:t>
            </a:r>
            <a:r>
              <a:rPr b="0" i="0" lang="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( 0.022)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least-bad skill score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(-6.22).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R² is really bad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Local's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R² of 0.022 is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barely positive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-0.99 is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Federated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-6.01 is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catastrophically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=&gt; its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predictions go in the wrong direction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often than just guessing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 flat average.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All three skill scores are negative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It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would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literally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better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saying "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6 hours will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what it is right now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than using any of these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models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411491" y="445770"/>
            <a:ext cx="829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Three-way comparison: Mean Results across the 3 held-out IXP</a:t>
            </a:r>
            <a:endParaRPr b="1" i="0" sz="2300" u="none" cap="none" strike="noStrike">
              <a:solidFill>
                <a:srgbClr val="9900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fl_results.png" id="307" name="Google Shape;307;p26"/>
          <p:cNvPicPr preferRelativeResize="0"/>
          <p:nvPr/>
        </p:nvPicPr>
        <p:blipFill rotWithShape="1">
          <a:blip r:embed="rId3">
            <a:alphaModFix/>
          </a:blip>
          <a:srcRect b="0" l="49998" r="0" t="0"/>
          <a:stretch/>
        </p:blipFill>
        <p:spPr>
          <a:xfrm>
            <a:off x="4950650" y="1329461"/>
            <a:ext cx="3924650" cy="23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411500" y="3824600"/>
            <a:ext cx="8463900" cy="12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IIX-Jateng (high variability, CV = 1.19 =&gt; spiky series): </a:t>
            </a:r>
            <a:endParaRPr b="1" i="0" sz="11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 struggles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here (21–28% error).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still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(~21%), Federated is in the middle (~23%), and Centralized is actually the worst (~28%).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The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variability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makes this series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to predict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pooling data from other IXPs actively hurts because the big, busy IXPs dominate the shared model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5232325" y="933525"/>
            <a:ext cx="27414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411500" y="2319850"/>
            <a:ext cx="422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324450" y="1256375"/>
            <a:ext cx="4490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three IXPs behave completely differently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IIX-Bali (low variability, CV = 0.23 =&gt; smooth, predictable series): </a:t>
            </a:r>
            <a:endParaRPr b="1" i="0" sz="11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is almost perfect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~0.6% error (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wins)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Federated jumps to ~4.7% because the global model has been contaminated with patterns from 10 very different IXPs.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Centralized (~1.6%) is better than Federated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324450" y="3057275"/>
            <a:ext cx="30000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t" sz="11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sumIX (medium variability, CV = 0.58):</a:t>
            </a:r>
            <a:endParaRPr b="1" i="0" sz="11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</a:t>
            </a:r>
            <a:r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actually </a:t>
            </a:r>
            <a:r>
              <a:rPr b="1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/>
        </p:nvSpPr>
        <p:spPr>
          <a:xfrm>
            <a:off x="411491" y="240030"/>
            <a:ext cx="829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8"/>
          <p:cNvSpPr txBox="1"/>
          <p:nvPr/>
        </p:nvSpPr>
        <p:spPr>
          <a:xfrm>
            <a:off x="411491" y="445770"/>
            <a:ext cx="82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t" sz="2300" u="none" cap="none" strike="noStrike">
                <a:solidFill>
                  <a:srgbClr val="990011"/>
                </a:solidFill>
                <a:latin typeface="Georgia"/>
                <a:ea typeface="Georgia"/>
                <a:cs typeface="Georgia"/>
                <a:sym typeface="Georgia"/>
              </a:rPr>
              <a:t>Conclusions and Future work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8"/>
          <p:cNvSpPr txBox="1"/>
          <p:nvPr/>
        </p:nvSpPr>
        <p:spPr>
          <a:xfrm>
            <a:off x="411505" y="1029250"/>
            <a:ext cx="8495100" cy="3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IXPs are too different from each other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The main issue is that the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IXPs are too different from each other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a single shared model to work well.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Federated learning's premise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clients share similar enough patterns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benefit from collaboration)  doesn't hold here.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traffic profiles span four orders of magnitude and have very different variability, so averaging their model weights produces a compromise that isn't great for any of them.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Single-layer GRU with 24h lookback may not be the right architecture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The fact that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Local models can't beat persistence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(negative skill) suggests that a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single-layer GRU with 24h lookback may not be the right architecture for this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or that the hourly traffic patterns in these IXPs are genuinely close to a random walk where the best predictor really is "same as now."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t" sz="12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i="0" sz="1200" u="none" cap="none" strike="noStrike">
              <a:solidFill>
                <a:srgbClr val="9900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Further </a:t>
            </a:r>
            <a:r>
              <a:rPr b="1" i="0" lang="it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LOOCV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Federated Learning</a:t>
            </a:r>
            <a:r>
              <a:rPr b="0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specifically </a:t>
            </a:r>
            <a:r>
              <a:rPr b="1" i="0" lang="it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for non-IID data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6378110" y="1508760"/>
            <a:ext cx="246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